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920240"/>
            <a:ext cx="292608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AAC8"/>
                </a:solidFill>
              </a:rPr>
              <a:t>A파트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데이터 파이프라인 및 로직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</a:rPr>
              <a:t>스케줄러  ·  CODEF API  ·  데이터 처리  ·  관리자 페이지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AC8"/>
                </a:solidFill>
              </a:rPr>
              <a:t>SoBee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전체 데이터 흐름 개요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AC8"/>
                </a:solidFill>
              </a:rPr>
              <a:t>SoBee / A파트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AC8"/>
                </a:solidFill>
              </a:rPr>
              <a:t>CODEF → FastAPI → MySQL → Airflow → AI 분석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26364" y="1600200"/>
            <a:ext cx="1417320" cy="1097280"/>
          </a:xfrm>
          <a:prstGeom prst="rect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6364" y="16733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CODEF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카드·은행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마이데이터 수집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43684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4852" y="1600200"/>
            <a:ext cx="1417320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4852" y="16733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sync_service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4852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거래내역 수집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&amp; UPSERT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62172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63340" y="1600200"/>
            <a:ext cx="141732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863340" y="16733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 RDS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63340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bank/card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transactions 저장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0660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1828" y="1600200"/>
            <a:ext cx="1417320" cy="1097280"/>
          </a:xfrm>
          <a:prstGeom prst="rect">
            <a:avLst/>
          </a:prstGeom>
          <a:solidFill>
            <a:srgbClr val="017CEE"/>
          </a:solidFill>
          <a:ln w="12700">
            <a:solidFill>
              <a:srgbClr val="017C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1828" y="16733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Airflow DAG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1828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매일 02:00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전체 유저 트리거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99148" y="19659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00316" y="1600200"/>
            <a:ext cx="1417320" cy="10972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00316" y="16733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분석 엔진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00316" y="2148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카테고리 매핑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E8F0FE"/>
                </a:solidFill>
              </a:rPr>
              <a:t>생애주기 · 아바타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320040" cy="320040"/>
          </a:xfrm>
          <a:prstGeom prst="rect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7432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044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유저 금융기관 인증(connected_id)으로 CODEF에서 카드·은행 거래내역 수집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438144"/>
            <a:ext cx="32004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7432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" y="3465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FastAPI sync_service가 raw 데이터 → MySQL 4개 테이블(bank/card_accounts, bank/card_transactions) UPSERT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858768"/>
            <a:ext cx="320040" cy="320040"/>
          </a:xfrm>
          <a:prstGeom prst="rect">
            <a:avLst/>
          </a:prstGeom>
          <a:solidFill>
            <a:srgbClr val="017CEE"/>
          </a:solidFill>
          <a:ln w="12700">
            <a:solidFill>
              <a:srgbClr val="017C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7432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③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Airflow가 매일 02:00 KST 전체 유저 동기화 트리거 (회원가입 시 즉시 트리거 가능)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279392"/>
            <a:ext cx="320040" cy="32004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74320" y="4279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④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" y="4306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거래 데이터를 카테고리 매핑 → 생애주기 예측 → 주간 아바타 생성으로 AI 처리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CODEF 연동 온보딩 (최초 1회)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AC8"/>
                </a:solidFill>
              </a:rPr>
              <a:t>SoBee / A파트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AC8"/>
                </a:solidFill>
              </a:rPr>
              <a:t>loginId / loginPw는 CODEF에만 전달 — 서버에 저장되지 않음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53212" y="1005840"/>
            <a:ext cx="14904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20140" y="1115568"/>
            <a:ext cx="347472" cy="347472"/>
          </a:xfrm>
          <a:prstGeom prst="ellipse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2014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" y="155448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E4B"/>
                </a:solidFill>
              </a:rPr>
              <a:t>인증 정보 입력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2940" y="1920240"/>
            <a:ext cx="12710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6364" y="1975104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유저가 loginId / loginPw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직접 입력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43684" y="1517904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89988" y="1005840"/>
            <a:ext cx="14904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56916" y="1115568"/>
            <a:ext cx="347472" cy="347472"/>
          </a:xfrm>
          <a:prstGeom prst="ellipse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56916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63140" y="155448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E4B"/>
                </a:solidFill>
              </a:rPr>
              <a:t>OAuth 토큰 발급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99716" y="1920240"/>
            <a:ext cx="12710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263140" y="1975104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client_id:secret → Base64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CODEF 토큰 서버 인증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80460" y="1517904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26764" y="1005840"/>
            <a:ext cx="14904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393692" y="1115568"/>
            <a:ext cx="347472" cy="347472"/>
          </a:xfrm>
          <a:prstGeom prst="ellipse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9369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99916" y="155448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E4B"/>
                </a:solidFill>
              </a:rPr>
              <a:t>RSA 암호화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36492" y="1920240"/>
            <a:ext cx="12710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899916" y="1975104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CODEF 공개키로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비밀번호 RSA 암호화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17236" y="1517904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63540" y="1005840"/>
            <a:ext cx="14904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030468" y="1115568"/>
            <a:ext cx="347472" cy="347472"/>
          </a:xfrm>
          <a:prstGeom prst="ellipse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030468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6692" y="155448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E4B"/>
                </a:solidFill>
              </a:rPr>
              <a:t>connected_id 발급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3268" y="1920240"/>
            <a:ext cx="12710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536692" y="1975104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/v1/account/create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신규 connected_id 반환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54012" y="1517904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00316" y="1005840"/>
            <a:ext cx="149047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667244" y="1115568"/>
            <a:ext cx="347472" cy="347472"/>
          </a:xfrm>
          <a:prstGeom prst="ellipse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667244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73468" y="155448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E4B"/>
                </a:solidFill>
              </a:rPr>
              <a:t>Secrets Manager 저장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10044" y="1920240"/>
            <a:ext cx="127101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173468" y="1975104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sobee/codef/{user_id}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기관별 cid 맵 저장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2697480"/>
            <a:ext cx="85953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274320" y="2743200"/>
            <a:ext cx="859536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2816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기관 추가 등록 — 동일 인증수단으로 여러 기관 묶기 (/v1/account/add)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3108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• 같은 loginId/loginPw로 여러 기관 등록 시 /v1/account/add 호출 → 기존 connected_id에 기관 추가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• CODEF 스펙: connected_id 1개 → 기관 N개 (예: 동일 인증서로 KB은행 + 국민카드)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• 기관별 connected_id 맵은 AWS Secrets Manager에 JSON으로 저장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  예: { "cid_abc": [{"businessType":"BK","organization":"0020"}, {"businessType":"CD","organization":"0301"}]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• 구형 포맷({BK: {0020: cid}}) 자동 마이그레이션 지원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CODEF 거래내역 수집 로직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AC8"/>
                </a:solidFill>
              </a:rPr>
              <a:t>SoBee / A파트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AC8"/>
                </a:solidFill>
              </a:rPr>
              <a:t>은행: 계좌 목록 → 병렬 조회  /  카드: 승인내역 일괄 조회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은행 거래내역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252728"/>
            <a:ext cx="3749040" cy="868680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2984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</a:rPr>
              <a:t>① 계좌 목록 조회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508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/v1/kr/bank/p/account/account-list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17465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organization + connected_id 전달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→ resAccountList 반환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2221992"/>
            <a:ext cx="3749040" cy="868680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2677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</a:rPr>
              <a:t>② 병렬 거래내역 조회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478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asyncio.gather(*[fetch_one(acc) for acc in accounts])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2715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각 계좌를 병렬로 동시 조회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→ /account/transaction-list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조회 기간: startDate ~ endDate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3191256"/>
            <a:ext cx="3749040" cy="868680"/>
          </a:xfrm>
          <a:prstGeom prst="rect">
            <a:avLst/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2369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</a:rPr>
              <a:t>③ DB 저장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bank_accounts UPSERT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bank_transactions DELETE→INSERT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2920" y="3685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잔액·최근거래일 갱신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기간 내 기존 데이터 삭제 후 재적재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5000건 초과 시 WARNING 로깅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46320" y="77724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846320" y="777240"/>
            <a:ext cx="4023360" cy="365760"/>
          </a:xfrm>
          <a:prstGeom prst="rect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4632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카드 승인내역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1252728"/>
            <a:ext cx="3749040" cy="86868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74920" y="12984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410C"/>
                </a:solidFill>
              </a:rPr>
              <a:t>① 카드 목록 조회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74920" y="1508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2D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/v1/kr/card/p/account/card-list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74920" y="17465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organization + connected_id 전달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→ 보유 카드 목록 확인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983480" y="2221992"/>
            <a:ext cx="3749040" cy="86868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74920" y="22677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410C"/>
                </a:solidFill>
              </a:rPr>
              <a:t>② 승인내역 일괄 조회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74920" y="2478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2D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/v1/kr/card/p/account/approval-list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74920" y="2715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memberStoreInfoType: '1' (가맹점명 포함)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orderBy: '0' (최신순)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startDate ~ endDate 기간 조회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983480" y="3191256"/>
            <a:ext cx="3749040" cy="86868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074920" y="32369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2410C"/>
                </a:solidFill>
              </a:rPr>
              <a:t>③ DB 저장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74920" y="34472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2D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 UPSERT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7C2D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card_transactions DELETE→INSERT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74920" y="3685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카드명·상태 갱신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기간 내 기존 데이터 삭제 후 재적재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기관 코드(_org) 태그 부착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15968" y="2377440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→ transactions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테이블 병합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Airflow DAG 구조 (sobee_transaction_sync)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AC8"/>
                </a:solidFill>
              </a:rPr>
              <a:t>SoBee / A파트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AC8"/>
                </a:solidFill>
              </a:rPr>
              <a:t>DAG: sync_transactions &gt;&gt; check_persona &gt;&gt; persona_all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4ED8"/>
                </a:solidFill>
              </a:rPr>
              <a:t>schedule: '0 17 * * *'  (KST 02:00)   |   catchup: False   |   tags: sobee, transaction, persona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1353312"/>
            <a:ext cx="2194560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sync_transactions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6642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E"/>
                </a:solidFill>
              </a:rPr>
              <a:t>전체 유저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E"/>
                </a:solidFill>
              </a:rPr>
              <a:t>거래내역 수집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E"/>
                </a:solidFill>
              </a:rPr>
              <a:t>(CODEF 병렬 호출)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17520" y="16642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&gt;&gt;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1353312"/>
            <a:ext cx="219456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7472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check_persona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6642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E"/>
                </a:solidFill>
              </a:rPr>
              <a:t>아바타 생성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E"/>
                </a:solidFill>
              </a:rPr>
              <a:t>실행 조건 확인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E"/>
                </a:solidFill>
              </a:rPr>
              <a:t>ShortCircuitOperator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715000" y="16642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&gt;&gt;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1353312"/>
            <a:ext cx="2194560" cy="105156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7220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persona_all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16642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F0FE"/>
                </a:solidFill>
              </a:rPr>
              <a:t>아바타 생성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E"/>
                </a:solidFill>
              </a:rPr>
              <a:t>지난주 사진 있는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8F0FE"/>
                </a:solidFill>
              </a:rPr>
              <a:t>유저 대상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2633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실행 모드 (3가지)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807208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2807208" cy="54864"/>
          </a:xfrm>
          <a:prstGeom prst="rect">
            <a:avLst/>
          </a:prstGeom>
          <a:solidFill>
            <a:srgbClr val="017CEE"/>
          </a:solidFill>
          <a:ln w="12700">
            <a:solidFill>
              <a:srgbClr val="017C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84048" y="30175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E4B"/>
                </a:solidFill>
              </a:rPr>
              <a:t>스케줄 실행 (기본)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95144" y="3017520"/>
            <a:ext cx="731520" cy="219456"/>
          </a:xfrm>
          <a:prstGeom prst="rect">
            <a:avLst/>
          </a:prstGeom>
          <a:solidFill>
            <a:srgbClr val="017CEE"/>
          </a:solidFill>
          <a:ln w="12700">
            <a:solidFill>
              <a:srgbClr val="017C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295144" y="30175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매일 02:00 KST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84048" y="3328416"/>
            <a:ext cx="25877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84048" y="3392424"/>
            <a:ext cx="2606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전체 유저 3일치(DAILY_SYNC_DAYS=3) 동기화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월요일에만: 사진 있는 유저 아바타 생성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conf 없이 자동 실행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45536" y="2926080"/>
            <a:ext cx="2807208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145536" y="2926080"/>
            <a:ext cx="280720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255264" y="30175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E4B"/>
                </a:solidFill>
              </a:rPr>
              <a:t>트리거 A — 초기 sync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66360" y="3017520"/>
            <a:ext cx="73152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66360" y="30175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회원가입 시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55264" y="3328416"/>
            <a:ext cx="25877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255264" y="3392424"/>
            <a:ext cx="2606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conf: {"user_id": 1, "days": 90}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해당 유저만 90일치 수집 (INITIAL_SYNC_DAYS)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아바타 생성 없음 (skip_avatar: true)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Airflow 실패 시 로컬 FastAPI fallback 실행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16752" y="2926080"/>
            <a:ext cx="2807208" cy="18653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016752" y="2926080"/>
            <a:ext cx="2807208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126480" y="301752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E4B"/>
                </a:solidFill>
              </a:rPr>
              <a:t>트리거 B — 강제 아바타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37576" y="3017520"/>
            <a:ext cx="731520" cy="21945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037576" y="30175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수동 실행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26480" y="3328416"/>
            <a:ext cx="258775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126480" y="3392424"/>
            <a:ext cx="2606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conf: {"force_persona": true}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전체 유저 sync + 아바타 강제 생성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사진 없는 유저도 아바타 생성 (force=True)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관리자 페이지에서 수동 트리거 가능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일별 동기화 처리 흐름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AC8"/>
                </a:solidFill>
              </a:rPr>
              <a:t>SoBee / A파트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AC8"/>
                </a:solidFill>
              </a:rPr>
              <a:t>Airflow가 매일 02:00 트리거 → 순차 처리 (월요일만 아바타 생성 실행)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20624" y="941832"/>
            <a:ext cx="329184" cy="32918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0624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94183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CODEF 거래 수집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344168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11480" y="140817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connected_id 별 병렬 호출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3일치 기본 (초기: 90일)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은행·카드 동시 수집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35224" y="1444752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99816" y="804672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099816" y="804672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46120" y="94183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46120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66744" y="94183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DB 적재 (UPSERT)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36976" y="1344168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36976" y="140817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bank/card_accounts 계좌 갱신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bank/card_transactions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기간 DELETE → INSERT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1444752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25312" y="804672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925312" y="804672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071616" y="94183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071616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941832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transactions 병합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62472" y="1344168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062472" y="140817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은행·카드 raw 테이블을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transactions 통합 테이블로 merge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(정규화·통일 포맷)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5146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74320" y="2514600"/>
            <a:ext cx="54864" cy="1508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20624" y="2651760"/>
            <a:ext cx="329184" cy="3291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20624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" y="265176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카테고리 매핑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3054096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11480" y="3118104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미매핑 건 일괄 처리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룰베이스 → Gemini LLM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→ VLM Fallback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35224" y="3154680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99816" y="25146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099816" y="2514600"/>
            <a:ext cx="54864" cy="1508760"/>
          </a:xfrm>
          <a:prstGeom prst="rect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246120" y="2651760"/>
            <a:ext cx="329184" cy="329184"/>
          </a:xfrm>
          <a:prstGeom prst="ellipse">
            <a:avLst/>
          </a:prstGeom>
          <a:solidFill>
            <a:srgbClr val="E8511A"/>
          </a:solidFill>
          <a:ln w="12700">
            <a:solidFill>
              <a:srgbClr val="E851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24612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66744" y="265176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생애주기 예측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36976" y="3054096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236976" y="3118104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ML 모델로 소비 패턴 분석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유저 생애주기 코드 예측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결과 DB 저장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60720" y="3154680"/>
            <a:ext cx="173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25312" y="25146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925312" y="2514600"/>
            <a:ext cx="54864" cy="150876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071616" y="2651760"/>
            <a:ext cx="329184" cy="329184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071616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92240" y="265176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아바타 생성 (월요일)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062472" y="3054096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062472" y="3118104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지난주 사진 있는 유저 대상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OpenAI DALL-E로 이미지 생성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S3 업로드 → DB 저장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카테고리 매핑 로직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AC8"/>
                </a:solidFill>
              </a:rPr>
              <a:t>SoBee / A파트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AC8"/>
                </a:solidFill>
              </a:rPr>
              <a:t>16개 표준 카테고리 · 룰베이스 → Gemini LLM → VLM Fallback 3단계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02336" y="89611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02336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9144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Tier 1 — 룰베이스 매핑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307592"/>
            <a:ext cx="844905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137160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DB category_mapping 테이블에서 (payment_category, payment_place) 키로 조회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98848" y="1371600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pair_cache로 동일 패턴 중복 API 호출 방지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59105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matched_by: 'tier2' (유형+가맹점명) 또는 'tier_place' (가맹점명 정규화)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98848" y="159105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빠른 응답 · AI 비용 없음 · 대부분의 반복 거래 처리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1892808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↓  미매핑 / 기타(16번) 발생 시 다음 단계로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85953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74320" y="2011680"/>
            <a:ext cx="54864" cy="107899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02336" y="2103120"/>
            <a:ext cx="347472" cy="3474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02336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" y="2121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Tier 2 — Gemini LLM 매핑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2514600"/>
            <a:ext cx="844905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84048" y="257860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룰베이스 미매핑 시 Google Gemini API 호출 (GEMINI_API_KEY)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498848" y="2578608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16개 표준 카테고리 + 상세 판단 기준 프롬프트로 분류 요청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279806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LLM 결과를 DB에 캐싱 → 이후 동일 패턴 룰베이스로 처리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98848" y="2798064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matched_by 결과가 'etc'(16)이면 자동으로 VLM Fallback 파이프라인으로 넘김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3099816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↓  미매핑 / 기타(16번) 발생 시 다음 단계로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218688"/>
            <a:ext cx="85953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74320" y="3218688"/>
            <a:ext cx="54864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02336" y="3310128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02336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" y="33284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VLM Fallback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3721608"/>
            <a:ext cx="844905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84048" y="378561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기타(16번)로 매핑된 건 중 연결된 사진이 있는 거래 대상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498848" y="378561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VLM(Visual Language Model)으로 사진 내용 분석하여 카테고리 재분류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048" y="4005072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vlm_category_fallback() → photo_vlm_results 참조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498848" y="4005072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• matched_by: 'vlm_fallback' 로 저장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526280"/>
            <a:ext cx="8595360" cy="33832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47472" y="4526280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475569"/>
                </a:solidFill>
              </a:rPr>
              <a:t>16개 표준 카테고리: 식비 · 카페/간식 · 온라인쇼핑 · 패션/쇼핑 · 교통 · 여행/숙박 · 문화/여가 · 술/유흥 · 의료/건강 · 뷰티/미용 · 주거/통신 · 교육/학습 · 금융 · 경조/선물 · 생활 · 기타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관리자 페이지 기능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AC8"/>
                </a:solidFill>
              </a:rPr>
              <a:t>SoBee / A파트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AC8"/>
                </a:solidFill>
              </a:rPr>
              <a:t>FastAPI /admin/* 엔드포인트 · 실시간 DB 모니터링 · AI 프롬프트 관리 · Airflow 트리거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95528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795528"/>
            <a:ext cx="54864" cy="1920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실시간 DB 현황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1795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/admin/overview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11480" y="1417320"/>
            <a:ext cx="3886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11480" y="148132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users · transactions · photos · diaries · avatars 카운트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vlm_count · cards · bank_accounts · card/bank_transactions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오늘 신규 유저 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최근 7일 일기·유저 가입 트렌드 데이터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17720" y="795528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17720" y="795528"/>
            <a:ext cx="54864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데이터 품질 모니터링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1795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/admin/health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3886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54880" y="148132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VLM 미처리 사진 수 (photo_vlm_results JOIN 미매핑)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일기 없는 유저 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아바타 없는 유저 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프롬프트 스토어 상태 (전체 수 / 수정된 수)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54864" cy="1920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AI 프롬프트 관리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355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PUT / DELETE  /admin/prompts/{key}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11480" y="3593592"/>
            <a:ext cx="3886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11480" y="36576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아바타·일기·추천 등 AI 프롬프트 실시간 조회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프롬프트 수정 → 이력(history) 자동 저장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DELETE → 기본 프롬프트로 리셋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is_modified 플래그로 커스텀 여부 표시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2971800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617720" y="2971800"/>
            <a:ext cx="54864" cy="19202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5488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E4B"/>
                </a:solidFill>
              </a:rPr>
              <a:t>Airflow 수동 트리거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355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/admin/airflow/trigger-sync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754880" y="3593592"/>
            <a:ext cx="3886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754880" y="36576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전체 유저 sync 수동 실행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force_persona: true → 강제 아바타 생성 (사진 없는 유저 포함)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특정 유저 초기 sync (user_id + days 파라미터)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• Airflow REST API (BasicAuth) 연동 · 실패 시 로컬 fallback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1452</Words>
  <Application>Microsoft Macintosh PowerPoint</Application>
  <PresentationFormat>화면 슬라이드 쇼(16:9)</PresentationFormat>
  <Paragraphs>237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문석빈</cp:lastModifiedBy>
  <cp:revision>2</cp:revision>
  <dcterms:created xsi:type="dcterms:W3CDTF">2026-06-14T06:42:43Z</dcterms:created>
  <dcterms:modified xsi:type="dcterms:W3CDTF">2026-06-14T06:53:25Z</dcterms:modified>
</cp:coreProperties>
</file>