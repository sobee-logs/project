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938528"/>
            <a:ext cx="2926080" cy="0"/>
          </a:xfrm>
          <a:prstGeom prst="line">
            <a:avLst/>
          </a:prstGeom>
          <a:noFill/>
          <a:ln w="254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AAC8"/>
                </a:solidFill>
              </a:rPr>
              <a:t>리포트 페이지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2996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상품 추천 &amp; 상품 검색 로직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0815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생애주기 기반 카드·적금 추천  ·  Gemini 자연어 검색 파싱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AC8"/>
                </a:solidFill>
              </a:rPr>
              <a:t>SoBee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상품 추천 — 전체 흐름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리포트 페이지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report_service에서 계산된 category_price를 입력받아 카드·적금 각 1개 추천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6364" y="1463040"/>
            <a:ext cx="1417320" cy="10972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" y="15361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category_price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report_service에서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계산된 카테고리별 지출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43684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4852" y="1463040"/>
            <a:ext cx="141732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4852" y="15361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생애주기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코드 조회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4852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users 테이블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life_stage_code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62172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63340" y="1463040"/>
            <a:ext cx="1417320" cy="10972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63340" y="15361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카드 추천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로직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6334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지출 상위 카테고리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→ 혜택 매칭 카드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0660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1828" y="1463040"/>
            <a:ext cx="14173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1828" y="15361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적금 추천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로직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1828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생애주기 기간 매핑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→ 금리 상위 상품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99148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00316" y="1463040"/>
            <a:ext cx="1417320" cy="109728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00316" y="15361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Insight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응답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00316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카드 + 적금 각 1개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추천 이유 포함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834640"/>
            <a:ext cx="4251960" cy="5486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</a:rPr>
              <a:t>카드 추천 결과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323697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91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product_type: 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11480" y="341071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'card'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331720" y="3291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product_name: 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331720" y="341071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카드명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11480" y="3566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product_company: 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1480" y="368503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카드사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331720" y="3566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product_img_url: 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31720" y="368503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카드 이미지 URL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11480" y="3840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reason: 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11480" y="395935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지출 기반 추천 이유 (템플릿)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331720" y="3840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content.benefitGroups: 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331720" y="395935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카드 혜택 목록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1480" y="411480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content.annualFeeDetail: 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1480" y="423367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연회비 상세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331720" y="411480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content.url: 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331720" y="423367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카드고릴라 링크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54880" y="283464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2834640"/>
            <a:ext cx="4251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</a:rPr>
              <a:t>적금 추천 결과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64608" y="323697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291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product_type: 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92040" y="341071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'savings'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812280" y="3291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product_name: 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12280" y="341071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상품명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92040" y="3566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product_company: 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892040" y="368503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금융기관명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812280" y="3566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product_img_url: 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812280" y="368503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기관 로고 URL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92040" y="3840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reason: 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892040" y="395935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생애주기 기반 추천 이유 (템플릿)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812280" y="3840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content.intrRate: 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812280" y="395935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기본 금리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892040" y="411480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content.header: 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92040" y="423367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우대금리 최대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812280" y="411480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content.joinWay: 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812280" y="423367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가입 방법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상품 추천 — 카드 추천 로직 상세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리포트 페이지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지출 상위 카테고리 → CATEGORY_TO_CATE → card_benefits 매핑 → 추천 이유 템플릿 생성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920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① 카테고리 → 카드 혜택 매핑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188720"/>
            <a:ext cx="3886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37F"/>
                </a:solidFill>
              </a:rPr>
              <a:t>식비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98448" y="1261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일반음식점, 푸드, 패밀리레스토랑, 배달앱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37F"/>
                </a:solidFill>
              </a:rPr>
              <a:t>카페/간식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98448" y="1481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카페, 카페/디저트, 베이커리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1700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37F"/>
                </a:solidFill>
              </a:rPr>
              <a:t>교통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98448" y="1700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교통, 대중교통, 택시, 기차, 하이패스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19202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37F"/>
                </a:solidFill>
              </a:rPr>
              <a:t>여행/숙박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98448" y="1920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여행/숙박, 항공권, 호텔, 면세점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1396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37F"/>
                </a:solidFill>
              </a:rPr>
              <a:t>생활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98448" y="2139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대형마트, 마트/편의점, 편의점, SSM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23591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37F"/>
                </a:solidFill>
              </a:rPr>
              <a:t>기타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98448" y="2359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모든가맹점 (폴백)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4023360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0360"/>
            <a:ext cx="54864" cy="184708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② card_benefits DB 조회 로직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3264408"/>
            <a:ext cx="3886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37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지출 상위 카테고리부터 순서대로 시도 (sorted by amount DESC)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3593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card_benefits.cate_name IN (매핑된 cate_names) 조건으로 카드 조회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38496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card_img_url NOT NULL + is_discontinued = 0 필터 → RAND() LIMIT 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1056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매칭 실패 시 다음 카테고리로 넘어감 (모든 카테고리 실패 시 '모든가맹점' 폴백)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361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매칭된 카드의 card_benefits 전체 조회 → benefitGroups 생성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804672"/>
            <a:ext cx="4206240" cy="3922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804672"/>
            <a:ext cx="54864" cy="39227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③ 추천 이유 자동 생성 (템플릿)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36592" y="1188720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1261872"/>
            <a:ext cx="39319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129844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Case: 지출 카테고리 = 혜택 카테고리 + 금액 + 혜택명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64608" y="14996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"식비에 32,000원 쓰셨는데, '배달앱 5% 캐시백' 혜택으로 알뜰하게 되돌려 받을 수 있어요."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1938528"/>
            <a:ext cx="39319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197510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Case: 지출 카테고리 ≠ 혜택 카테고리 (연결 문구)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64608" y="21762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"교통에 쓰신 만큼, 대중교통 혜택으로 '주유 할인'까지 한 번에 받을 수 있어요."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00600" y="2615184"/>
            <a:ext cx="39319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6517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Case: 혜택명만 있는 경우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64608" y="28529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"카페 자주 쓰신다면, '스타벅스 30% 할인' 혜택으로 매번 실속을 챙길 수 있어요."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3291840"/>
            <a:ext cx="39319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32841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Case: 금액만 있는 경우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64608" y="35295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"식비에 45,000원이나 쓰셨군요. 혜택 없이 그냥 쓰기엔 아까운 금액이에요."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00600" y="3968496"/>
            <a:ext cx="39319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00507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Case: 매칭 없는 경우 (기본)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64608" y="42062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"식비 지출이 있으시다면, 관련 혜택으로 쓸 때마다 조금씩 돌려받을 수 있어요."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상품 추천 — 적금 추천 로직 상세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리포트 페이지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생애주기 코드 → 적정 기간 매핑 → 금리 상위 5개 중 RAND 선택 → 친근한 추천 이유 생성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3950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68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</a:rPr>
              <a:t>생애주기별 추천 적금 기간 (LIFE_STAGE_SAVE_TRM)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18872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234440"/>
            <a:ext cx="3931920" cy="246888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344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코드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07008" y="1234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단계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79776" y="12344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기간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38144" y="1234440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비고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1517904"/>
            <a:ext cx="39319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5179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TEEN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207008" y="15179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십대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79776" y="15179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6개월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38144" y="15179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4048" y="1746504"/>
            <a:ext cx="3931920" cy="219456"/>
          </a:xfrm>
          <a:prstGeom prst="rect">
            <a:avLst/>
          </a:prstGeom>
          <a:solidFill>
            <a:srgbClr val="FAFAFA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465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UNI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207008" y="17465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대학생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79776" y="1746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12개월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38144" y="17465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" y="1975104"/>
            <a:ext cx="39319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19751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NEW_JOB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207008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사회초년생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79776" y="19751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12개월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38144" y="19751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" y="2203704"/>
            <a:ext cx="3931920" cy="219456"/>
          </a:xfrm>
          <a:prstGeom prst="rect">
            <a:avLst/>
          </a:prstGeom>
          <a:solidFill>
            <a:srgbClr val="FAFAFA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2037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NEW_WED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207008" y="22037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신혼부부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79776" y="22037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24개월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38144" y="22037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4048" y="2432304"/>
            <a:ext cx="39319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4323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CHILD_BABY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1207008" y="24323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영유아 자녀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79776" y="24323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36개월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38144" y="24323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키즈 상품 우선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4048" y="2660904"/>
            <a:ext cx="3931920" cy="219456"/>
          </a:xfrm>
          <a:prstGeom prst="rect">
            <a:avLst/>
          </a:prstGeom>
          <a:solidFill>
            <a:srgbClr val="FAFAFA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6609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CHILD_TEEN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1207008" y="26609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자녀 의무교육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79776" y="26609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36개월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38144" y="26609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키즈 상품 우선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84048" y="2889504"/>
            <a:ext cx="39319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8895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CHILD_UNI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1207008" y="28895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자녀 대학생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79776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24개월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438144" y="28895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키즈 상품 우선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84048" y="3118104"/>
            <a:ext cx="3931920" cy="219456"/>
          </a:xfrm>
          <a:prstGeom prst="rect">
            <a:avLst/>
          </a:prstGeom>
          <a:solidFill>
            <a:srgbClr val="FAFAFA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1181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GOLLIFE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1207008" y="3118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중년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79776" y="31181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24개월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438144" y="31181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84048" y="3346704"/>
            <a:ext cx="393192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3467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SECLIFE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1207008" y="33467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2nd Life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79776" y="33467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12개월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438144" y="33467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84048" y="3575304"/>
            <a:ext cx="3931920" cy="219456"/>
          </a:xfrm>
          <a:prstGeom prst="rect">
            <a:avLst/>
          </a:prstGeom>
          <a:solidFill>
            <a:srgbClr val="FAFAFA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35753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</a:rPr>
              <a:t>RETIR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1207008" y="35753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은퇴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779776" y="35753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12개월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438144" y="35753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54880" y="804672"/>
            <a:ext cx="41148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754880" y="804672"/>
            <a:ext cx="54864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savings_products DB 조회 로직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828032" y="1188720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92040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생애주기 코드로 save_trm(개월 수) 결정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892040" y="1527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save_trm 일치 상품 중 intr_max_rate DESC 상위 5개 선택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892040" y="1792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자녀 단계(CHILD_*·TEEN): 키즈 키워드 상품 우선 포함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892040" y="2057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비자녀 단계: 키즈 키워드(키즈|아이|어린이 등) 상품 제외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89204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상위 5개 중 RAND() LIMIT 1 → 매번 다른 상품 추천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54880" y="292608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754880" y="29260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생애주기별 추천 이유 템플릿 (예시)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828032" y="3310128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92040" y="338328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NEW_JOB: 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892040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"첫 월급이잖아요! 이참에 적금 하나 만들어보는 거 어때요? 12개월에 최고 연 4.5%예요."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4892040" y="37124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CHILD_BABY: 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892040" y="38313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"아이 이름으로 하나 만들어두면 나중에 정말 든든하더라고요! 36개월에 최고 연 5.0%예요."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892040" y="40416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RETIR: 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892040" y="41605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"여유롭게 지내려면 이런 안정적인 상품이 딱이에요! 12개월에 최고 연 3.8%예요."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892040" y="437083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+ 우대금리: 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892040" y="44897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"... 비과세 가입 조건 맞추면 우대금리도 챙길 수 있어요!" (spcl_cnd 50자 이내 시 추가)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상품 검색 — 전체 흐름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리포트 페이지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자연어 검색어 → Gemini 파싱 → Elasticsearch 검색 → 결과 반환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6364" y="1417320"/>
            <a:ext cx="1417320" cy="11430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" y="14721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자연어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검색어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" y="19385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예) "카페 할인 많은 카드"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"스타벅스 혜택"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43684" y="181051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4852" y="1417320"/>
            <a:ext cx="141732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4852" y="14721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고유명사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사전 매핑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4852" y="19385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스타벅스→카페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롯데월드→영화 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80여개 패턴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62172" y="181051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63340" y="1417320"/>
            <a:ext cx="1417320" cy="11430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63340" y="14721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2.5 Flash 파싱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63340" y="19385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product_types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company / category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keywords / ai_text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0660" y="181051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1828" y="1417320"/>
            <a:ext cx="1417320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1828" y="14721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Elasticsearch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검색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1828" y="19385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파싱 결과로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상품 인덱스 검색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(Spring 처리)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99148" y="181051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00316" y="1417320"/>
            <a:ext cx="1417320" cy="114300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00316" y="14721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결과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문구 반환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00316" y="19385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검색 상품 목록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+ ai_text 안내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문구 함께 반환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788920"/>
            <a:ext cx="85953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788920"/>
            <a:ext cx="54864" cy="196596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</a:rPr>
              <a:t>ParseSearchResponse — Gemini 파싱 결과 스키마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3172968"/>
            <a:ext cx="8458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246120"/>
            <a:ext cx="416052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product_types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64208" y="32826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List[str]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7200" y="3447288"/>
            <a:ext cx="4014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검색 의도에 맞는 상품 타입 (card / savings / insurance). 언급 없으면 3개 모두 포함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4048" y="3685032"/>
            <a:ext cx="416052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124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64208" y="3721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Optional[str]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0" y="3886200"/>
            <a:ext cx="4014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금융기관 브랜드명만 추출. 일반 브랜드(스타벅스 등)는 null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84048" y="4123944"/>
            <a:ext cx="416052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513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64208" y="41605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Optional[str]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57200" y="4325112"/>
            <a:ext cx="4014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카드 혜택 카테고리 15개 중 하나 (음식점/카페/교통/주유/마트/편의점/영화/여행 등)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09160" y="3246120"/>
            <a:ext cx="416052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89320" y="32826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List[str]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82312" y="3447288"/>
            <a:ext cx="4014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핵심 한국어 키워드 1~3개 (짧을수록 좋음)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9160" y="3685032"/>
            <a:ext cx="4160520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2312" y="37124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ai_text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89320" y="3721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str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82312" y="3886200"/>
            <a:ext cx="4014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사용자에게 보여줄 3~4문장 친근한 분석 문구 (검색의도 파악 → 추천 기준 → 실용 팁)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상품 검색 — Gemini 파싱 로직 상세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리포트 페이지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고유명사 사전 + Gemini 2.5 Flash JSON 파싱 + 폴백 처리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06908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39502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68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</a:rPr>
              <a:t>고유명사 사전 (_PROPER_NOUN_CATEGORIES)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188720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435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Gemini 파싱 전 검색어에 포함된 고유명사를 먼저 카테고리로 변환.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결과가 있으면 Gemini의 category를 덮어씀 (정확도 보정).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682496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824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카페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3000" y="17007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스타벅스, 이디야, 투썸플레이스, 메가커피, 빽다방, 할리스, 폴바셋, 컴포즈커피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1984248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9842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음식점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3000" y="20025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맥도날드, 버거킹, 롯데리아, KFC, 맘스터치, 배달의민족, 쿠팡이츠, 요기요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2286000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860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마트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43000" y="23042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이마트, 홈플러스, 코스트코, 롯데마트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4048" y="2587752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587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편의점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43000" y="2606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CU, GS25, 세븐일레븐, 미니스톱, emart24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84048" y="2889504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895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영화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43000" y="29077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넷플릭스, 왓챠, 웨이브, 티빙, CGV, 메가박스, 롯데시네마, 롯데월드, 에버랜드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3191256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1912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여행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143000" y="32095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야놀자, 여기어때, 에어비앤비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3493008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930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교통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143000" y="35112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—  (버스/지하철 등은 텍스트 직접 매핑)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4048" y="3794760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7947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통신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143000" y="3813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SKT, KT, LG유플러스, LGU+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4048" y="4096512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0965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온라인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1143000" y="4114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카카오페이, 네이버페이, 쿠팡, 11번가, 지마켓, 옥션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4048" y="4398264"/>
            <a:ext cx="71323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3982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</a:rPr>
              <a:t>주유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1143000" y="4416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SK에너지, GS칼텍스, 현대오일뱅크, S오일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804672"/>
            <a:ext cx="42062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804672"/>
            <a:ext cx="54864" cy="2331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Gemini 2.5 Flash 호출 설정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36592" y="1188720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12618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0600" y="1408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gemini-2.5-flash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160020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response_mime_type: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00600" y="1746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application/json  (구조화 출력 강제)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00600" y="19385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2084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0.3  (일관성 확보)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00600" y="22768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thinking_budget: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0600" y="2423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0  (빠른 응답 우선)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00600" y="2615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00600" y="27614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product_types / company / category 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keywords / ai_text 5개 필드 JSON 규칙 명시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63440" y="329184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3291840"/>
            <a:ext cx="54864" cy="146304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폴백 처리 (Gemini 실패 시)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36592" y="3675888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374904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product_types: ['card', 'savings', 'insurance'] (전체)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800600" y="394106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company: null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00600" y="41330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category: 고유명사 사전 매핑 결과 (있으면) or null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00600" y="432511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keywords: [검색어 원문]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00600" y="451713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• ai_text: "'{query}' 관련 상품을 찾았어요."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2026-06-14T07:57:56Z</dcterms:created>
  <dcterms:modified xsi:type="dcterms:W3CDTF">2026-06-14T07:57:56Z</dcterms:modified>
</cp:coreProperties>
</file>